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3" name="Shape 1"/>
          <p:cNvSpPr/>
          <p:nvPr/>
        </p:nvSpPr>
        <p:spPr>
          <a:xfrm>
            <a:off x="7132320" y="91440"/>
            <a:ext cx="1920240" cy="73152"/>
          </a:xfrm>
          <a:prstGeom prst="rect">
            <a:avLst/>
          </a:prstGeom>
          <a:solidFill>
            <a:srgbClr val="00C2FF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8778240" y="91440"/>
            <a:ext cx="73152" cy="1097280"/>
          </a:xfrm>
          <a:prstGeom prst="rect">
            <a:avLst/>
          </a:prstGeom>
          <a:solidFill>
            <a:srgbClr val="00C2FF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7772400" y="548640"/>
            <a:ext cx="1280160" cy="73152"/>
          </a:xfrm>
          <a:prstGeom prst="rect">
            <a:avLst/>
          </a:prstGeom>
          <a:solidFill>
            <a:srgbClr val="00C2FF">
              <a:alpha val="4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7772400" y="548640"/>
            <a:ext cx="73152" cy="822960"/>
          </a:xfrm>
          <a:prstGeom prst="rect">
            <a:avLst/>
          </a:prstGeom>
          <a:solidFill>
            <a:srgbClr val="00C2FF">
              <a:alpha val="40000"/>
            </a:srgbClr>
          </a:solidFill>
          <a:ln/>
        </p:spPr>
      </p:sp>
      <p:sp>
        <p:nvSpPr>
          <p:cNvPr id="7" name="Shape 5"/>
          <p:cNvSpPr/>
          <p:nvPr/>
        </p:nvSpPr>
        <p:spPr>
          <a:xfrm>
            <a:off x="7132320" y="1097280"/>
            <a:ext cx="914400" cy="73152"/>
          </a:xfrm>
          <a:prstGeom prst="rect">
            <a:avLst/>
          </a:prstGeom>
          <a:solidFill>
            <a:srgbClr val="00C2FF">
              <a:alpha val="40000"/>
            </a:srgbClr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320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spc="500" kern="0" dirty="0">
                <a:solidFill>
                  <a:srgbClr val="00C2FF"/>
                </a:solidFill>
              </a:rPr>
              <a:t>CYBERSECURITY SEMINAR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822960"/>
            <a:ext cx="82296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Multi-Factor Authentication</a:t>
            </a:r>
            <a:endParaRPr lang="en-US" sz="4200" dirty="0"/>
          </a:p>
        </p:txBody>
      </p:sp>
      <p:sp>
        <p:nvSpPr>
          <p:cNvPr id="10" name="Text 8"/>
          <p:cNvSpPr/>
          <p:nvPr/>
        </p:nvSpPr>
        <p:spPr>
          <a:xfrm>
            <a:off x="457200" y="169164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00C2FF"/>
                </a:solidFill>
              </a:rPr>
              <a:t>(MFA) Attacks &amp;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57200" y="242316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FFFFFF"/>
                </a:solidFill>
              </a:rPr>
              <a:t>Bypass Techniques</a:t>
            </a:r>
            <a:endParaRPr lang="en-US" sz="4200" dirty="0"/>
          </a:p>
        </p:txBody>
      </p:sp>
      <p:sp>
        <p:nvSpPr>
          <p:cNvPr id="12" name="Shape 10"/>
          <p:cNvSpPr/>
          <p:nvPr/>
        </p:nvSpPr>
        <p:spPr>
          <a:xfrm>
            <a:off x="457200" y="3364992"/>
            <a:ext cx="4114800" cy="36576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" y="35204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FF"/>
                </a:solidFill>
              </a:rPr>
              <a:t>23DCE101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965960" y="35204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Jay Prajapati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57200" y="38221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FF"/>
                </a:solidFill>
              </a:rPr>
              <a:t>23DCE129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965960" y="38221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Vansh Vyas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4123944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FF"/>
                </a:solidFill>
              </a:rPr>
              <a:t>23DCE082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965960" y="4123944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Harshilkumar Patel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754880" y="3520440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FF"/>
                </a:solidFill>
              </a:rPr>
              <a:t>23DCE080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09360" y="3520440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Harnish Patel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3822192"/>
            <a:ext cx="1645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FF"/>
                </a:solidFill>
              </a:rPr>
              <a:t>23DCE068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309360" y="3822192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Kevin Meghani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5720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07D8B"/>
                </a:solidFill>
              </a:rPr>
              <a:t>Gujarat Technological University  ·  Computer Engineering  ·  2025–26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C2FF"/>
                </a:solidFill>
              </a:rPr>
              <a:t>PRESENTATION OUTLINE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We'll Cover Today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365760" y="1463040"/>
            <a:ext cx="4023360" cy="713232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463040"/>
            <a:ext cx="54864" cy="713232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7" name="Text 5"/>
          <p:cNvSpPr/>
          <p:nvPr/>
        </p:nvSpPr>
        <p:spPr>
          <a:xfrm>
            <a:off x="475488" y="15361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32688" y="151790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Introduction to MFA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32688" y="1865376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</a:rPr>
              <a:t>23DCE101 · Jay Prajapati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65760" y="2286000"/>
            <a:ext cx="4023360" cy="713232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286000"/>
            <a:ext cx="54864" cy="713232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12" name="Text 10"/>
          <p:cNvSpPr/>
          <p:nvPr/>
        </p:nvSpPr>
        <p:spPr>
          <a:xfrm>
            <a:off x="475488" y="23591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32688" y="234086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SIM Swapping &amp; SS7 Attacks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32688" y="2688336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</a:rPr>
              <a:t>23DCE101 · Jay Prajapati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63440" y="1463040"/>
            <a:ext cx="4023360" cy="713232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63440" y="1463040"/>
            <a:ext cx="54864" cy="713232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17" name="Text 15"/>
          <p:cNvSpPr/>
          <p:nvPr/>
        </p:nvSpPr>
        <p:spPr>
          <a:xfrm>
            <a:off x="4773168" y="153619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230368" y="151790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Phishing &amp; AiTM Attacks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230368" y="1865376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</a:rPr>
              <a:t>23DCE129 · Vansh Vyas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2286000"/>
            <a:ext cx="4023360" cy="713232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63440" y="2286000"/>
            <a:ext cx="54864" cy="713232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22" name="Text 20"/>
          <p:cNvSpPr/>
          <p:nvPr/>
        </p:nvSpPr>
        <p:spPr>
          <a:xfrm>
            <a:off x="4773168" y="23591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</a:rPr>
              <a:t>04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230368" y="234086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OTP &amp; Push Bombing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30368" y="2688336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</a:rPr>
              <a:t>23DCE129 · Vansh Vyas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3108960"/>
            <a:ext cx="4023360" cy="713232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65760" y="3108960"/>
            <a:ext cx="54864" cy="713232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27" name="Text 25"/>
          <p:cNvSpPr/>
          <p:nvPr/>
        </p:nvSpPr>
        <p:spPr>
          <a:xfrm>
            <a:off x="475488" y="31821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</a:rPr>
              <a:t>05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32688" y="316382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Token Hijacking &amp; Replay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932688" y="3511296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</a:rPr>
              <a:t>23DCE082 · Harshilkumar Patel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663440" y="3108960"/>
            <a:ext cx="4023360" cy="713232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663440" y="3108960"/>
            <a:ext cx="54864" cy="713232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32" name="Text 30"/>
          <p:cNvSpPr/>
          <p:nvPr/>
        </p:nvSpPr>
        <p:spPr>
          <a:xfrm>
            <a:off x="4773168" y="318211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</a:rPr>
              <a:t>06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230368" y="316382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Social Engineering &amp; Deepfakes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230368" y="3511296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</a:rPr>
              <a:t>23DCE080 · Harnish Patel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65760" y="3931920"/>
            <a:ext cx="4023360" cy="713232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365760" y="3931920"/>
            <a:ext cx="54864" cy="713232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37" name="Text 35"/>
          <p:cNvSpPr/>
          <p:nvPr/>
        </p:nvSpPr>
        <p:spPr>
          <a:xfrm>
            <a:off x="475488" y="40050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</a:rPr>
              <a:t>07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932688" y="398678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Real-World Case Studies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932688" y="4334256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</a:rPr>
              <a:t>23DCE068 · Kevin Meghani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663440" y="3931920"/>
            <a:ext cx="4023360" cy="713232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4663440" y="3931920"/>
            <a:ext cx="54864" cy="713232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42" name="Text 40"/>
          <p:cNvSpPr/>
          <p:nvPr/>
        </p:nvSpPr>
        <p:spPr>
          <a:xfrm>
            <a:off x="4773168" y="400507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</a:rPr>
              <a:t>08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5230368" y="3986784"/>
            <a:ext cx="33375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Countermeasures &amp; Future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230368" y="4334256"/>
            <a:ext cx="3337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07D8B"/>
                </a:solidFill>
              </a:rPr>
              <a:t>23DCE068 · Kevin Meghani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Introduction to Multi-Factor Authentication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C2FF"/>
                </a:solidFill>
              </a:rPr>
              <a:t>23DCE101 · Jay Prajapati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777240"/>
            <a:ext cx="5303520" cy="1874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77240"/>
            <a:ext cx="64008" cy="1874520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822960"/>
            <a:ext cx="4937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5"/>
                </a:solidFill>
              </a:rPr>
              <a:t>What is MFA?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" y="1188720"/>
            <a:ext cx="493776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535"/>
                </a:solidFill>
              </a:rPr>
              <a:t>Multi-Factor Authentication (MFA) requires users to provide TWO or more verification factors before granting access. It combines: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535"/>
                </a:solidFill>
              </a:rPr>
              <a:t>Knowledge  —  Something you know (password, PIN)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535"/>
                </a:solidFill>
              </a:rPr>
              <a:t>Possession  —  Something you have (phone, hardware key)</a:t>
            </a:r>
            <a:endParaRPr lang="en-US" sz="1150" dirty="0"/>
          </a:p>
          <a:p>
            <a:pPr marL="342900" indent="-342900">
              <a:buSzPct val="100000"/>
              <a:buChar char="•"/>
            </a:pPr>
            <a:r>
              <a:rPr lang="en-US" sz="1150" dirty="0">
                <a:solidFill>
                  <a:srgbClr val="1A2535"/>
                </a:solidFill>
              </a:rPr>
              <a:t>Inherence  —  Something you are (fingerprint, face ID)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852160" y="777240"/>
            <a:ext cx="2926080" cy="187452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943600" y="8686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FF"/>
                </a:solidFill>
              </a:rPr>
              <a:t>99.9%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5943600" y="1188720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of account hacks blocked by MFA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0" y="1453896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FF"/>
                </a:solidFill>
              </a:rPr>
              <a:t>~80%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943600" y="1773936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of breaches involve stolen credentials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943600" y="2039112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C2FF"/>
                </a:solidFill>
              </a:rPr>
              <a:t>3B+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5943600" y="2359152"/>
            <a:ext cx="27432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credentials leaked since 2019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65760" y="278892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5"/>
                </a:solidFill>
              </a:rPr>
              <a:t>Common MFA Methods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3127248"/>
            <a:ext cx="1664208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65760" y="3127248"/>
            <a:ext cx="1664208" cy="292608"/>
          </a:xfrm>
          <a:prstGeom prst="rect">
            <a:avLst/>
          </a:prstGeom>
          <a:solidFill>
            <a:srgbClr val="132338"/>
          </a:solidFill>
          <a:ln/>
        </p:spPr>
      </p:sp>
      <p:sp>
        <p:nvSpPr>
          <p:cNvPr id="19" name="Text 17"/>
          <p:cNvSpPr/>
          <p:nvPr/>
        </p:nvSpPr>
        <p:spPr>
          <a:xfrm>
            <a:off x="411480" y="3127248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FF"/>
                </a:solidFill>
              </a:rPr>
              <a:t>SMS OTP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38912" y="3474720"/>
            <a:ext cx="15179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535"/>
                </a:solidFill>
              </a:rPr>
              <a:t>One-time password sent via text message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121408" y="3127248"/>
            <a:ext cx="1664208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2121408" y="3127248"/>
            <a:ext cx="1664208" cy="292608"/>
          </a:xfrm>
          <a:prstGeom prst="rect">
            <a:avLst/>
          </a:prstGeom>
          <a:solidFill>
            <a:srgbClr val="132338"/>
          </a:solidFill>
          <a:ln/>
        </p:spPr>
      </p:sp>
      <p:sp>
        <p:nvSpPr>
          <p:cNvPr id="23" name="Text 21"/>
          <p:cNvSpPr/>
          <p:nvPr/>
        </p:nvSpPr>
        <p:spPr>
          <a:xfrm>
            <a:off x="2167128" y="3127248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FF"/>
                </a:solidFill>
              </a:rPr>
              <a:t>TOTP App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2194560" y="3474720"/>
            <a:ext cx="15179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535"/>
                </a:solidFill>
              </a:rPr>
              <a:t>Time-based OTP via apps like Google Authenticator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877056" y="3127248"/>
            <a:ext cx="1664208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3877056" y="3127248"/>
            <a:ext cx="1664208" cy="292608"/>
          </a:xfrm>
          <a:prstGeom prst="rect">
            <a:avLst/>
          </a:prstGeom>
          <a:solidFill>
            <a:srgbClr val="132338"/>
          </a:solidFill>
          <a:ln/>
        </p:spPr>
      </p:sp>
      <p:sp>
        <p:nvSpPr>
          <p:cNvPr id="27" name="Text 25"/>
          <p:cNvSpPr/>
          <p:nvPr/>
        </p:nvSpPr>
        <p:spPr>
          <a:xfrm>
            <a:off x="3922776" y="3127248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FF"/>
                </a:solidFill>
              </a:rPr>
              <a:t>Push Notify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950208" y="3474720"/>
            <a:ext cx="15179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535"/>
                </a:solidFill>
              </a:rPr>
              <a:t>Approve request via mobile app notification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5632704" y="3127248"/>
            <a:ext cx="1664208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5632704" y="3127248"/>
            <a:ext cx="1664208" cy="292608"/>
          </a:xfrm>
          <a:prstGeom prst="rect">
            <a:avLst/>
          </a:prstGeom>
          <a:solidFill>
            <a:srgbClr val="132338"/>
          </a:solidFill>
          <a:ln/>
        </p:spPr>
      </p:sp>
      <p:sp>
        <p:nvSpPr>
          <p:cNvPr id="31" name="Text 29"/>
          <p:cNvSpPr/>
          <p:nvPr/>
        </p:nvSpPr>
        <p:spPr>
          <a:xfrm>
            <a:off x="5678424" y="3127248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FF"/>
                </a:solidFill>
              </a:rPr>
              <a:t>Hardware Key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5705856" y="3474720"/>
            <a:ext cx="15179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535"/>
                </a:solidFill>
              </a:rPr>
              <a:t>Physical FIDO2/YubiKey device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388352" y="3127248"/>
            <a:ext cx="1664208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7388352" y="3127248"/>
            <a:ext cx="1664208" cy="292608"/>
          </a:xfrm>
          <a:prstGeom prst="rect">
            <a:avLst/>
          </a:prstGeom>
          <a:solidFill>
            <a:srgbClr val="132338"/>
          </a:solidFill>
          <a:ln/>
        </p:spPr>
      </p:sp>
      <p:sp>
        <p:nvSpPr>
          <p:cNvPr id="35" name="Text 33"/>
          <p:cNvSpPr/>
          <p:nvPr/>
        </p:nvSpPr>
        <p:spPr>
          <a:xfrm>
            <a:off x="7434072" y="3127248"/>
            <a:ext cx="15727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C2FF"/>
                </a:solidFill>
              </a:rPr>
              <a:t>Biometrics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461504" y="3474720"/>
            <a:ext cx="1517904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535"/>
                </a:solidFill>
              </a:rPr>
              <a:t>Fingerprint, face, or voice recognition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8" name="Text 36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D8B"/>
                </a:solidFill>
              </a:rPr>
              <a:t>MFA Attacks &amp; Bypass Techniques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8229600" y="497433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7D8B"/>
                </a:solidFill>
              </a:rPr>
              <a:t>03 / 11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SIM Swapping &amp; SS7 Protocol Attacks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C2FF"/>
                </a:solidFill>
              </a:rPr>
              <a:t>23DCE101 · Jay Prajapati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420624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49808"/>
            <a:ext cx="4206240" cy="347472"/>
          </a:xfrm>
          <a:prstGeom prst="rect">
            <a:avLst/>
          </a:prstGeom>
          <a:solidFill>
            <a:srgbClr val="FF4C4C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49808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SIM Swapping Attack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170432"/>
            <a:ext cx="393192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</a:rPr>
              <a:t>Attacker gathers victim's personal data via OSINT or phishing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</a:rPr>
              <a:t>Calls carrier posing as victim to transfer SIM to attacker-controlled device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</a:rPr>
              <a:t>All SMS OTPs, calls redirected to attacker's phone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</a:rPr>
              <a:t>Bypasses SMS-based MFA completely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</a:rPr>
              <a:t>High-profile victims: Jack Dorsey, crypto exchanges, celebrities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54880" y="749808"/>
            <a:ext cx="402336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54880" y="749808"/>
            <a:ext cx="4023360" cy="347472"/>
          </a:xfrm>
          <a:prstGeom prst="rect">
            <a:avLst/>
          </a:prstGeom>
          <a:solidFill>
            <a:srgbClr val="344A65"/>
          </a:solidFill>
          <a:ln/>
        </p:spPr>
      </p:sp>
      <p:sp>
        <p:nvSpPr>
          <p:cNvPr id="11" name="Text 9"/>
          <p:cNvSpPr/>
          <p:nvPr/>
        </p:nvSpPr>
        <p:spPr>
          <a:xfrm>
            <a:off x="4846320" y="749808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SS7 Protocol Vulnerability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92040" y="1170432"/>
            <a:ext cx="379476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</a:rPr>
              <a:t>SS7 (Signalling System 7) is 1970s-era telecom infrastructure still in use globally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</a:rPr>
              <a:t>Attacker with SS7 access can intercept ANY SMS or voice call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</a:rPr>
              <a:t>Track location of any mobile user worldwide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</a:rPr>
              <a:t>No need to deceive the carrier — works silently at network level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</a:rPr>
              <a:t>Used by nation-state actors, intelligence agencies, criminal groups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97180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5"/>
                </a:solidFill>
              </a:rPr>
              <a:t>SIM Swap Attack Flow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310128"/>
            <a:ext cx="1572768" cy="1417320"/>
          </a:xfrm>
          <a:prstGeom prst="rect">
            <a:avLst/>
          </a:prstGeom>
          <a:solidFill>
            <a:srgbClr val="607D8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0624" y="3383280"/>
            <a:ext cx="14630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1. Gather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Victim Info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38528" y="3941064"/>
            <a:ext cx="146304" cy="54864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17" name="Shape 15"/>
          <p:cNvSpPr/>
          <p:nvPr/>
        </p:nvSpPr>
        <p:spPr>
          <a:xfrm>
            <a:off x="2084832" y="3310128"/>
            <a:ext cx="1572768" cy="1417320"/>
          </a:xfrm>
          <a:prstGeom prst="rect">
            <a:avLst/>
          </a:prstGeom>
          <a:solidFill>
            <a:srgbClr val="344A6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2139696" y="3383280"/>
            <a:ext cx="14630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2. Contact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Carrier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0" y="3941064"/>
            <a:ext cx="146304" cy="54864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20" name="Shape 18"/>
          <p:cNvSpPr/>
          <p:nvPr/>
        </p:nvSpPr>
        <p:spPr>
          <a:xfrm>
            <a:off x="3803904" y="3310128"/>
            <a:ext cx="1572768" cy="1417320"/>
          </a:xfrm>
          <a:prstGeom prst="rect">
            <a:avLst/>
          </a:prstGeom>
          <a:solidFill>
            <a:srgbClr val="FF4C4C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3858768" y="3383280"/>
            <a:ext cx="14630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3. SIM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Transferred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376672" y="3941064"/>
            <a:ext cx="146304" cy="54864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23" name="Shape 21"/>
          <p:cNvSpPr/>
          <p:nvPr/>
        </p:nvSpPr>
        <p:spPr>
          <a:xfrm>
            <a:off x="5522976" y="3310128"/>
            <a:ext cx="1572768" cy="1417320"/>
          </a:xfrm>
          <a:prstGeom prst="rect">
            <a:avLst/>
          </a:prstGeom>
          <a:solidFill>
            <a:srgbClr val="FF4C4C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577840" y="3383280"/>
            <a:ext cx="14630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4. Intercept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SMS OTP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095744" y="3941064"/>
            <a:ext cx="146304" cy="54864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26" name="Shape 24"/>
          <p:cNvSpPr/>
          <p:nvPr/>
        </p:nvSpPr>
        <p:spPr>
          <a:xfrm>
            <a:off x="7242048" y="3310128"/>
            <a:ext cx="1572768" cy="1417320"/>
          </a:xfrm>
          <a:prstGeom prst="rect">
            <a:avLst/>
          </a:prstGeom>
          <a:solidFill>
            <a:srgbClr val="8B0000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7296912" y="3383280"/>
            <a:ext cx="1463040" cy="12618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5. Account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Compromised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9" name="Text 27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D8B"/>
                </a:solidFill>
              </a:rPr>
              <a:t>MFA Attacks &amp; Bypass Techniques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8229600" y="497433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7D8B"/>
                </a:solidFill>
              </a:rPr>
              <a:t>04 / 11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Phishing &amp; Adversary-in-the-Middle (AiTM) Attacks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C2FF"/>
                </a:solidFill>
              </a:rPr>
              <a:t>23DCE129 · Vansh Vyas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71323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5"/>
                </a:solidFill>
              </a:rPr>
              <a:t>How AiTM (Evilginx2) Works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1078992"/>
            <a:ext cx="1371600" cy="914400"/>
          </a:xfrm>
          <a:prstGeom prst="rect">
            <a:avLst/>
          </a:prstGeom>
          <a:solidFill>
            <a:srgbClr val="607D8B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274320" y="1078992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Victim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103120" y="1078992"/>
            <a:ext cx="1828800" cy="914400"/>
          </a:xfrm>
          <a:prstGeom prst="rect">
            <a:avLst/>
          </a:prstGeom>
          <a:solidFill>
            <a:srgbClr val="FF4C4C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103120" y="1078992"/>
            <a:ext cx="1828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Attacker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Proxy Server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(AiTM)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480560" y="1078992"/>
            <a:ext cx="1371600" cy="914400"/>
          </a:xfrm>
          <a:prstGeom prst="rect">
            <a:avLst/>
          </a:prstGeom>
          <a:solidFill>
            <a:srgbClr val="344A65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480560" y="1078992"/>
            <a:ext cx="1371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Legit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Login Server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645920" y="1463040"/>
            <a:ext cx="457200" cy="54864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13" name="Shape 11"/>
          <p:cNvSpPr/>
          <p:nvPr/>
        </p:nvSpPr>
        <p:spPr>
          <a:xfrm>
            <a:off x="3931920" y="1463040"/>
            <a:ext cx="548640" cy="54864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14" name="Text 12"/>
          <p:cNvSpPr/>
          <p:nvPr/>
        </p:nvSpPr>
        <p:spPr>
          <a:xfrm>
            <a:off x="274320" y="2084832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D8B"/>
                </a:solidFill>
              </a:rPr>
              <a:t>1. Victim enters creds on fake site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103120" y="2084832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FF4C4C"/>
                </a:solidFill>
              </a:rPr>
              <a:t>2. Proxy relays to real server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FF4C4C"/>
                </a:solidFill>
              </a:rPr>
              <a:t>3. Captures session token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480560" y="2084832"/>
            <a:ext cx="1463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607D8B"/>
                </a:solidFill>
              </a:rPr>
              <a:t>4. Attacker reuses</a:t>
            </a:r>
            <a:endParaRPr lang="en-US" sz="950" dirty="0"/>
          </a:p>
          <a:p>
            <a:pPr algn="ctr" indent="0" marL="0">
              <a:buNone/>
            </a:pPr>
            <a:r>
              <a:rPr lang="en-US" sz="950" dirty="0">
                <a:solidFill>
                  <a:srgbClr val="607D8B"/>
                </a:solidFill>
              </a:rPr>
              <a:t>stolen token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943600" y="713232"/>
            <a:ext cx="2834640" cy="201168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035040" y="777240"/>
            <a:ext cx="26517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FF"/>
                </a:solidFill>
              </a:rPr>
              <a:t>Known Tools &amp; Kits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080760" y="11430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Evilginx2  —  Session hijacking proxy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080760" y="146304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Modlishka  —  Reverse proxy phishing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080760" y="178308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Muraena  —  Go-based AiTM toolkit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6080760" y="210312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</a:rPr>
              <a:t>EvilnoVNC  —  Real-time browser hijack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65760" y="26060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535"/>
                </a:solidFill>
              </a:rPr>
              <a:t>MFA-Targeting Phishing Variants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2944368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2944368"/>
            <a:ext cx="2011680" cy="384048"/>
          </a:xfrm>
          <a:prstGeom prst="rect">
            <a:avLst/>
          </a:prstGeom>
          <a:solidFill>
            <a:srgbClr val="132338"/>
          </a:solidFill>
          <a:ln/>
        </p:spPr>
      </p:sp>
      <p:sp>
        <p:nvSpPr>
          <p:cNvPr id="26" name="Text 24"/>
          <p:cNvSpPr/>
          <p:nvPr/>
        </p:nvSpPr>
        <p:spPr>
          <a:xfrm>
            <a:off x="438912" y="2944368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FF"/>
                </a:solidFill>
              </a:rPr>
              <a:t>Spear Phishing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33832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5"/>
                </a:solidFill>
              </a:rPr>
              <a:t>Targeted emails impersonating IT or management to harvest OTPs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2523744" y="2944368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523744" y="2944368"/>
            <a:ext cx="2011680" cy="384048"/>
          </a:xfrm>
          <a:prstGeom prst="rect">
            <a:avLst/>
          </a:prstGeom>
          <a:solidFill>
            <a:srgbClr val="132338"/>
          </a:solidFill>
          <a:ln/>
        </p:spPr>
      </p:sp>
      <p:sp>
        <p:nvSpPr>
          <p:cNvPr id="30" name="Text 28"/>
          <p:cNvSpPr/>
          <p:nvPr/>
        </p:nvSpPr>
        <p:spPr>
          <a:xfrm>
            <a:off x="2596896" y="2944368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FF"/>
                </a:solidFill>
              </a:rPr>
              <a:t>Voice Phishing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C2FF"/>
                </a:solidFill>
              </a:rPr>
              <a:t>(Vishing)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2615184" y="33832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5"/>
                </a:solidFill>
              </a:rPr>
              <a:t>Caller impersonates bank/IT, tricks victim into sharing OTP live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81728" y="2944368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4681728" y="2944368"/>
            <a:ext cx="2011680" cy="384048"/>
          </a:xfrm>
          <a:prstGeom prst="rect">
            <a:avLst/>
          </a:prstGeom>
          <a:solidFill>
            <a:srgbClr val="132338"/>
          </a:solidFill>
          <a:ln/>
        </p:spPr>
      </p:sp>
      <p:sp>
        <p:nvSpPr>
          <p:cNvPr id="34" name="Text 32"/>
          <p:cNvSpPr/>
          <p:nvPr/>
        </p:nvSpPr>
        <p:spPr>
          <a:xfrm>
            <a:off x="4754880" y="2944368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FF"/>
                </a:solidFill>
              </a:rPr>
              <a:t>QR Code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C2FF"/>
                </a:solidFill>
              </a:rPr>
              <a:t>Phishing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4773168" y="33832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5"/>
                </a:solidFill>
              </a:rPr>
              <a:t>Fake QR redirects user to attacker's proxy — token captured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6839712" y="2944368"/>
            <a:ext cx="201168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6839712" y="2944368"/>
            <a:ext cx="2011680" cy="384048"/>
          </a:xfrm>
          <a:prstGeom prst="rect">
            <a:avLst/>
          </a:prstGeom>
          <a:solidFill>
            <a:srgbClr val="132338"/>
          </a:solidFill>
          <a:ln/>
        </p:spPr>
      </p:sp>
      <p:sp>
        <p:nvSpPr>
          <p:cNvPr id="38" name="Text 36"/>
          <p:cNvSpPr/>
          <p:nvPr/>
        </p:nvSpPr>
        <p:spPr>
          <a:xfrm>
            <a:off x="6912864" y="2944368"/>
            <a:ext cx="186537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C2FF"/>
                </a:solidFill>
              </a:rPr>
              <a:t>Browser-in-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00C2FF"/>
                </a:solidFill>
              </a:rPr>
              <a:t>Browser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6931152" y="3383280"/>
            <a:ext cx="18288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535"/>
                </a:solidFill>
              </a:rPr>
              <a:t>Fake browser window inside webpage — indistinguishable from real login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1" name="Text 39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D8B"/>
                </a:solidFill>
              </a:rPr>
              <a:t>MFA Attacks &amp; Bypass Techniques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8229600" y="497433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7D8B"/>
                </a:solidFill>
              </a:rPr>
              <a:t>05 / 11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OTP Bruteforce &amp; MFA Fatigue / Push Bombing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C2FF"/>
                </a:solidFill>
              </a:rPr>
              <a:t>23DCE129 · Vansh Vyas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416052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49808"/>
            <a:ext cx="4160520" cy="365760"/>
          </a:xfrm>
          <a:prstGeom prst="rect">
            <a:avLst/>
          </a:prstGeom>
          <a:solidFill>
            <a:srgbClr val="344A65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749808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OTP Brute Force &amp; Prediction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02920" y="1188720"/>
            <a:ext cx="388620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</a:rPr>
              <a:t>6-digit OTPs have only 1,000,000 combinations — weak to rapid guessing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</a:rPr>
              <a:t>Weak PRNG implementations allow OTP prediction by analyzing seed patterns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</a:rPr>
              <a:t>No rate limiting on some platforms enables automated brute force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</a:rPr>
              <a:t>SMS OTPs often valid 10+ minutes — widens the attack window significantly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749808"/>
            <a:ext cx="406908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749808"/>
            <a:ext cx="4069080" cy="365760"/>
          </a:xfrm>
          <a:prstGeom prst="rect">
            <a:avLst/>
          </a:prstGeom>
          <a:solidFill>
            <a:srgbClr val="FF4C4C"/>
          </a:solidFill>
          <a:ln/>
        </p:spPr>
      </p:sp>
      <p:sp>
        <p:nvSpPr>
          <p:cNvPr id="11" name="Text 9"/>
          <p:cNvSpPr/>
          <p:nvPr/>
        </p:nvSpPr>
        <p:spPr>
          <a:xfrm>
            <a:off x="4800600" y="749808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MFA Fatigue / Push Bombing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46320" y="1188720"/>
            <a:ext cx="379476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</a:rPr>
              <a:t>Attacker already has valid username + password (stolen credentials)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</a:rPr>
              <a:t>Sends hundreds of MFA push approvals to victim's phone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</a:rPr>
              <a:t>Victim accepts just to stop the notifications — account compromised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</a:rPr>
              <a:t>Used in Uber (2022) &amp; Cisco breaches — highly effective at scale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2798064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5"/>
                </a:solidFill>
              </a:rPr>
              <a:t>OTP Attacks — Mitigation Strategies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145536"/>
            <a:ext cx="4160520" cy="160020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57200" y="3200400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C4C"/>
                </a:solidFill>
              </a:rPr>
              <a:t>Attack Indicators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52044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C107"/>
                </a:solidFill>
              </a:rPr>
              <a:t>⚠ Multiple failed OTP attempts in short window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379476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C107"/>
                </a:solidFill>
              </a:rPr>
              <a:t>⚠ Push notifications from unusual geo-location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02920" y="406908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C107"/>
                </a:solidFill>
              </a:rPr>
              <a:t>⚠ Auth requests outside business hours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4343400"/>
            <a:ext cx="38404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C107"/>
                </a:solidFill>
              </a:rPr>
              <a:t>⚠ Excessive push notifications (&gt;5 in 1 min)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709160" y="3145536"/>
            <a:ext cx="4069080" cy="1600200"/>
          </a:xfrm>
          <a:prstGeom prst="rect">
            <a:avLst/>
          </a:prstGeom>
          <a:solidFill>
            <a:srgbClr val="E8F5E9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800600" y="3200400"/>
            <a:ext cx="3886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E7D32"/>
                </a:solidFill>
              </a:rPr>
              <a:t>Mitigations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46320" y="352044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7D32"/>
                </a:solidFill>
              </a:rPr>
              <a:t>✓ Rate limiting on OTP endpoints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846320" y="379476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7D32"/>
                </a:solidFill>
              </a:rPr>
              <a:t>✓ Number matching in push notifications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846320" y="406908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7D32"/>
                </a:solidFill>
              </a:rPr>
              <a:t>✓ Short OTP validity windows (30–60s)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846320" y="4343400"/>
            <a:ext cx="3749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2E7D32"/>
                </a:solidFill>
              </a:rPr>
              <a:t>✓ FIDO2/Passkeys eliminate OTP entirely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7" name="Text 25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D8B"/>
                </a:solidFill>
              </a:rPr>
              <a:t>MFA Attacks &amp; Bypass Techniques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8229600" y="497433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7D8B"/>
                </a:solidFill>
              </a:rPr>
              <a:t>06 / 11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Token Hijacking, Session Replay &amp; MITM Attacks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217920" y="0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C2FF"/>
                </a:solidFill>
              </a:rPr>
              <a:t>23DCE082 · Harshilkumar Patel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2834640" cy="41330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749808"/>
            <a:ext cx="2834640" cy="457200"/>
          </a:xfrm>
          <a:prstGeom prst="rect">
            <a:avLst/>
          </a:prstGeom>
          <a:solidFill>
            <a:srgbClr val="FF4C4C"/>
          </a:solidFill>
          <a:ln/>
        </p:spPr>
      </p:sp>
      <p:sp>
        <p:nvSpPr>
          <p:cNvPr id="7" name="Text 5"/>
          <p:cNvSpPr/>
          <p:nvPr/>
        </p:nvSpPr>
        <p:spPr>
          <a:xfrm>
            <a:off x="365760" y="74980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Session Token Hijacking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298448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</a:rPr>
              <a:t>After MFA success, server issues a session token (cookie)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11480" y="1984248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</a:rPr>
              <a:t>Attacker steals this token via XSS, malicious browser extension, or network sniffing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11480" y="2670048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</a:rPr>
              <a:t>Token reused to access account with NO further MFA prompt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11480" y="3355848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</a:rPr>
              <a:t>AiTM attacks specifically target post-MFA session tokens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11480" y="4041648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</a:rPr>
              <a:t>Tools: Cookie-Editor, Burp Suite, BeEF framework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18688" y="749808"/>
            <a:ext cx="2834640" cy="41330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18688" y="749808"/>
            <a:ext cx="2834640" cy="457200"/>
          </a:xfrm>
          <a:prstGeom prst="rect">
            <a:avLst/>
          </a:prstGeom>
          <a:solidFill>
            <a:srgbClr val="344A65"/>
          </a:solidFill>
          <a:ln/>
        </p:spPr>
      </p:sp>
      <p:sp>
        <p:nvSpPr>
          <p:cNvPr id="15" name="Text 13"/>
          <p:cNvSpPr/>
          <p:nvPr/>
        </p:nvSpPr>
        <p:spPr>
          <a:xfrm>
            <a:off x="3310128" y="74980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TOTP Replay Attacks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55848" y="1298448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</a:rPr>
              <a:t>TOTP codes valid for 30s — but with clock skew allowance up to 90s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3355848" y="1984248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</a:rPr>
              <a:t>Attacker intercepts OTP and reuses within validity window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3355848" y="2670048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</a:rPr>
              <a:t>Real-time phishing pages relay OTP instantly to attacker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3355848" y="3355848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</a:rPr>
              <a:t>Servers failing to mark used tokens allow multiple uses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3355848" y="4041648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</a:rPr>
              <a:t>Solution: Single-use OTP enforcement at server side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6163056" y="749808"/>
            <a:ext cx="2834640" cy="4133088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163056" y="749808"/>
            <a:ext cx="2834640" cy="457200"/>
          </a:xfrm>
          <a:prstGeom prst="rect">
            <a:avLst/>
          </a:prstGeom>
          <a:solidFill>
            <a:srgbClr val="132338"/>
          </a:solidFill>
          <a:ln/>
        </p:spPr>
      </p:sp>
      <p:sp>
        <p:nvSpPr>
          <p:cNvPr id="23" name="Text 21"/>
          <p:cNvSpPr/>
          <p:nvPr/>
        </p:nvSpPr>
        <p:spPr>
          <a:xfrm>
            <a:off x="6254496" y="749808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MITM &amp; SSL Stripping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6300216" y="1298448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</a:rPr>
              <a:t>Attacker positions between user and authentication server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300216" y="1984248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</a:rPr>
              <a:t>SSL stripping downgrades HTTPS to HTTP, exposing credentials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300216" y="2670048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</a:rPr>
              <a:t>Can capture 2FA codes in transit on unsecured networks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300216" y="3355848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</a:rPr>
              <a:t>Open Wi-Fi hotspots prime target for MITM interception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300216" y="4041648"/>
            <a:ext cx="25603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</a:rPr>
              <a:t>HSTS + HPKP headers mitigate SSL stripping effectively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0" name="Text 28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D8B"/>
                </a:solidFill>
              </a:rPr>
              <a:t>MFA Attacks &amp; Bypass Techniques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8229600" y="497433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7D8B"/>
                </a:solidFill>
              </a:rPr>
              <a:t>07 / 11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Social Engineering, Deepfakes &amp; Biometric Spoofing</a:t>
            </a:r>
            <a:endParaRPr lang="en-US" sz="17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C2FF"/>
                </a:solidFill>
              </a:rPr>
              <a:t>23DCE080 · Harnish Patel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65760" y="749808"/>
            <a:ext cx="5120640" cy="19659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749808"/>
            <a:ext cx="64008" cy="1965960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7" name="Text 5"/>
          <p:cNvSpPr/>
          <p:nvPr/>
        </p:nvSpPr>
        <p:spPr>
          <a:xfrm>
            <a:off x="530352" y="795528"/>
            <a:ext cx="4846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5"/>
                </a:solidFill>
              </a:rPr>
              <a:t>Social Engineering — Human as the Weakest Link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30352" y="1152144"/>
            <a:ext cx="484632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</a:rPr>
              <a:t>Tech Support Scam: Attacker poses as IT staff, requests victim read OTP aloud for 'verification'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</a:rPr>
              <a:t>Pretexting: Elaborate false scenario built to earn trust before requesting MFA codes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</a:rPr>
              <a:t>Insider Threats: Corrupt employee with physical access bypasses MFA entirely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1A2535"/>
                </a:solidFill>
              </a:rPr>
              <a:t>Recovery Abuse: Exploit backup codes or account recovery to bypass MFA altogether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669280" y="749808"/>
            <a:ext cx="3108960" cy="19659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5760720" y="804672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FF"/>
                </a:solidFill>
              </a:rPr>
              <a:t>AI Deepfakes vs Biometrics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806440" y="1143000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Face-swap videos bypass facial recognition MFA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806440" y="1490472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AI voice cloning defeats voice-print authentication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806440" y="1837944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Printed 2D photos can fool iris scanners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806440" y="2185416"/>
            <a:ext cx="28346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FFFFFF"/>
                </a:solidFill>
              </a:rPr>
              <a:t>Deepfake video calls impersonate executives for wire transfers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65760" y="2834640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535"/>
                </a:solidFill>
              </a:rPr>
              <a:t>Real-World Social Engineering MFA Bypasses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20040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3200400"/>
            <a:ext cx="54864" cy="777240"/>
          </a:xfrm>
          <a:prstGeom prst="rect">
            <a:avLst/>
          </a:prstGeom>
          <a:solidFill>
            <a:srgbClr val="FF4C4C"/>
          </a:solidFill>
          <a:ln/>
        </p:spPr>
      </p:sp>
      <p:sp>
        <p:nvSpPr>
          <p:cNvPr id="18" name="Text 16"/>
          <p:cNvSpPr/>
          <p:nvPr/>
        </p:nvSpPr>
        <p:spPr>
          <a:xfrm>
            <a:off x="502920" y="32644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C4C"/>
                </a:solidFill>
              </a:rPr>
              <a:t>Twilio (2022)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2920" y="35478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5"/>
                </a:solidFill>
              </a:rPr>
              <a:t>SMS phishing of employees → MFA bypass → 125 customer orgs compromised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09160" y="3200400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09160" y="3200400"/>
            <a:ext cx="54864" cy="777240"/>
          </a:xfrm>
          <a:prstGeom prst="rect">
            <a:avLst/>
          </a:prstGeom>
          <a:solidFill>
            <a:srgbClr val="FF4C4C"/>
          </a:solidFill>
          <a:ln/>
        </p:spPr>
      </p:sp>
      <p:sp>
        <p:nvSpPr>
          <p:cNvPr id="22" name="Text 20"/>
          <p:cNvSpPr/>
          <p:nvPr/>
        </p:nvSpPr>
        <p:spPr>
          <a:xfrm>
            <a:off x="4846320" y="3264408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C4C"/>
                </a:solidFill>
              </a:rPr>
              <a:t>Cloudflare (2022)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846320" y="3547872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5"/>
                </a:solidFill>
              </a:rPr>
              <a:t>Same campaign hit Cloudflare — stopped by FIDO2 hardware keys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65760" y="4096512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65760" y="4096512"/>
            <a:ext cx="54864" cy="777240"/>
          </a:xfrm>
          <a:prstGeom prst="rect">
            <a:avLst/>
          </a:prstGeom>
          <a:solidFill>
            <a:srgbClr val="FF4C4C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" y="41605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C4C"/>
                </a:solidFill>
              </a:rPr>
              <a:t>LastPass (2022)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" y="444398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5"/>
                </a:solidFill>
              </a:rPr>
              <a:t>Deepfake audio of CEO used in vishing attempt on employee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709160" y="4096512"/>
            <a:ext cx="4114800" cy="777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4709160" y="4096512"/>
            <a:ext cx="54864" cy="777240"/>
          </a:xfrm>
          <a:prstGeom prst="rect">
            <a:avLst/>
          </a:prstGeom>
          <a:solidFill>
            <a:srgbClr val="FF4C4C"/>
          </a:solidFill>
          <a:ln/>
        </p:spPr>
      </p:sp>
      <p:sp>
        <p:nvSpPr>
          <p:cNvPr id="30" name="Text 28"/>
          <p:cNvSpPr/>
          <p:nvPr/>
        </p:nvSpPr>
        <p:spPr>
          <a:xfrm>
            <a:off x="4846320" y="416052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4C4C"/>
                </a:solidFill>
              </a:rPr>
              <a:t>MGM/Caesars (2023)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46320" y="4443984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535"/>
                </a:solidFill>
              </a:rPr>
              <a:t>10-min phone call social-engineered IT helpdesk, reset MFA, extorted $15M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3" name="Text 31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D8B"/>
                </a:solidFill>
              </a:rPr>
              <a:t>MFA Attacks &amp; Bypass Techniques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229600" y="497433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7D8B"/>
                </a:solidFill>
              </a:rPr>
              <a:t>08 / 11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Real-World MFA Bypass Case Studies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858000" y="0"/>
            <a:ext cx="21031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00C2FF"/>
                </a:solidFill>
              </a:rPr>
              <a:t>23DCE068 · Kevin Meghani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320040" y="777240"/>
            <a:ext cx="4206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777240"/>
            <a:ext cx="4206240" cy="347472"/>
          </a:xfrm>
          <a:prstGeom prst="rect">
            <a:avLst/>
          </a:prstGeom>
          <a:solidFill>
            <a:srgbClr val="FF4C4C"/>
          </a:solidFill>
          <a:ln/>
        </p:spPr>
      </p:sp>
      <p:sp>
        <p:nvSpPr>
          <p:cNvPr id="7" name="Text 5"/>
          <p:cNvSpPr/>
          <p:nvPr/>
        </p:nvSpPr>
        <p:spPr>
          <a:xfrm>
            <a:off x="429768" y="7772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Uber Data Breach (2022)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246120" y="841248"/>
            <a:ext cx="1097280" cy="219456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246120" y="84124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MFA Fatigue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29768" y="1179576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Attacker purchased credentials from dark web. Sent MFA push notifications until contractor approved. Attacker gained access to internal Slack, AWS, and HackerOne. Posted 'I am a hacker' on Slack. Full internal compromise via one MFA approval.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800600" y="777240"/>
            <a:ext cx="4206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00600" y="777240"/>
            <a:ext cx="4206240" cy="347472"/>
          </a:xfrm>
          <a:prstGeom prst="rect">
            <a:avLst/>
          </a:prstGeom>
          <a:solidFill>
            <a:srgbClr val="344A65"/>
          </a:solidFill>
          <a:ln/>
        </p:spPr>
      </p:sp>
      <p:sp>
        <p:nvSpPr>
          <p:cNvPr id="13" name="Text 11"/>
          <p:cNvSpPr/>
          <p:nvPr/>
        </p:nvSpPr>
        <p:spPr>
          <a:xfrm>
            <a:off x="4910328" y="77724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Microsoft / GitHub (2022)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726680" y="841248"/>
            <a:ext cx="1097280" cy="219456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7726680" y="84124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OAuth Token Theft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4910328" y="1179576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Lapsus$ group stole OAuth tokens from developer accounts. Bypassed MFA by hijacking authenticated sessions. Accessed Microsoft source code repositories. Demonstrated that post-authentication tokens are as valuable as passwords.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20040" y="2240280"/>
            <a:ext cx="4206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240280"/>
            <a:ext cx="4206240" cy="347472"/>
          </a:xfrm>
          <a:prstGeom prst="rect">
            <a:avLst/>
          </a:prstGeom>
          <a:solidFill>
            <a:srgbClr val="7B1FA2"/>
          </a:solidFill>
          <a:ln/>
        </p:spPr>
      </p:sp>
      <p:sp>
        <p:nvSpPr>
          <p:cNvPr id="19" name="Text 17"/>
          <p:cNvSpPr/>
          <p:nvPr/>
        </p:nvSpPr>
        <p:spPr>
          <a:xfrm>
            <a:off x="429768" y="22402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Crypto.com (2022)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3246120" y="2304288"/>
            <a:ext cx="1097280" cy="219456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246120" y="230428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2FA Bypass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429768" y="2642616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$34M stolen from 483 user accounts. MFA bypass mechanism undisclosed but confirmed. Exchange initially denied then confirmed breach. Reimbursed all affected users. Highlighted custodial wallet MFA vulnerabilities.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800600" y="2240280"/>
            <a:ext cx="4206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00600" y="2240280"/>
            <a:ext cx="4206240" cy="347472"/>
          </a:xfrm>
          <a:prstGeom prst="rect">
            <a:avLst/>
          </a:prstGeom>
          <a:solidFill>
            <a:srgbClr val="E65100"/>
          </a:solidFill>
          <a:ln/>
        </p:spPr>
      </p:sp>
      <p:sp>
        <p:nvSpPr>
          <p:cNvPr id="25" name="Text 23"/>
          <p:cNvSpPr/>
          <p:nvPr/>
        </p:nvSpPr>
        <p:spPr>
          <a:xfrm>
            <a:off x="4910328" y="224028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Twilio &amp; Okta (2022)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726680" y="2304288"/>
            <a:ext cx="1097280" cy="219456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726680" y="230428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Supply Chain + SE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910328" y="2642616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Group-IB dubbed the campaign '0ktapus'. 169 organizations compromised via Twilio access. Okta breach gave attackers access to customer systems. Phishing pages harvested MFA codes in real time. 9,931 credentials stolen.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20040" y="3703320"/>
            <a:ext cx="4206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703320"/>
            <a:ext cx="4206240" cy="347472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31" name="Text 29"/>
          <p:cNvSpPr/>
          <p:nvPr/>
        </p:nvSpPr>
        <p:spPr>
          <a:xfrm>
            <a:off x="429768" y="37033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Cisco (2022)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246120" y="3767328"/>
            <a:ext cx="1097280" cy="219456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33" name="Text 31"/>
          <p:cNvSpPr/>
          <p:nvPr/>
        </p:nvSpPr>
        <p:spPr>
          <a:xfrm>
            <a:off x="3246120" y="376732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Vishing + MFA Push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429768" y="4105656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Employee's personal Google account credentials stolen. Attacker used vishing + MFA push bombing. Ultimately got employee to accept push after repeated calls. Ransomware group Yanluowang claimed access. Cisco confirmed but denied data theft.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00600" y="3703320"/>
            <a:ext cx="4206240" cy="13716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4800600" y="3703320"/>
            <a:ext cx="4206240" cy="347472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37" name="Text 35"/>
          <p:cNvSpPr/>
          <p:nvPr/>
        </p:nvSpPr>
        <p:spPr>
          <a:xfrm>
            <a:off x="4910328" y="3703320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</a:rPr>
              <a:t>Microsoft 365 / MSTIC (2022)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726680" y="3767328"/>
            <a:ext cx="1097280" cy="219456"/>
          </a:xfrm>
          <a:prstGeom prst="rect">
            <a:avLst/>
          </a:prstGeom>
          <a:solidFill>
            <a:srgbClr val="FFFFFF">
              <a:alpha val="70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7726680" y="3767328"/>
            <a:ext cx="109728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AiTM Phishing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4910328" y="4105656"/>
            <a:ext cx="39776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535"/>
                </a:solidFill>
              </a:rPr>
              <a:t>Microsoft identified large-scale AiTM phishing campaign targeting 10,000+ organizations. Used proxy-based phishing to steal session cookies post-MFA. Attacker signed into Microsoft 365 using stolen cookies. Demonstrated MFA is NOT foolproof against AiTM.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42" name="Text 40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D8B"/>
                </a:solidFill>
              </a:rPr>
              <a:t>MFA Attacks &amp; Bypass Techniques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8229600" y="497433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7D8B"/>
                </a:solidFill>
              </a:rPr>
              <a:t>09 / 11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Countermeasures &amp; Hardening Against MFA Attacks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320040" y="777240"/>
            <a:ext cx="42062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777240"/>
            <a:ext cx="73152" cy="2011680"/>
          </a:xfrm>
          <a:prstGeom prst="rect">
            <a:avLst/>
          </a:prstGeom>
          <a:solidFill>
            <a:srgbClr val="1565C0"/>
          </a:solidFill>
          <a:ln/>
        </p:spPr>
      </p:sp>
      <p:sp>
        <p:nvSpPr>
          <p:cNvPr id="6" name="Text 4"/>
          <p:cNvSpPr/>
          <p:nvPr/>
        </p:nvSpPr>
        <p:spPr>
          <a:xfrm>
            <a:off x="484632" y="8686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565C0"/>
                </a:solidFill>
              </a:rPr>
              <a:t>Phishing-Resistant MFA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84632" y="1216152"/>
            <a:ext cx="3913632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</a:rPr>
              <a:t>FIDO2/WebAuthn hardware security keys (YubiKey)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</a:rPr>
              <a:t>Passkeys — cryptographic, device-bound, phishing-proof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</a:rPr>
              <a:t>Certificate-based authentication (smartcard/PIV)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</a:rPr>
              <a:t>Binding MFA to origin URL prevents AiTM relay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777240"/>
            <a:ext cx="42062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777240"/>
            <a:ext cx="73152" cy="2011680"/>
          </a:xfrm>
          <a:prstGeom prst="rect">
            <a:avLst/>
          </a:prstGeom>
          <a:solidFill>
            <a:srgbClr val="2E7D32"/>
          </a:solidFill>
          <a:ln/>
        </p:spPr>
      </p:sp>
      <p:sp>
        <p:nvSpPr>
          <p:cNvPr id="10" name="Text 8"/>
          <p:cNvSpPr/>
          <p:nvPr/>
        </p:nvSpPr>
        <p:spPr>
          <a:xfrm>
            <a:off x="4965192" y="86868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</a:rPr>
              <a:t>OTP &amp; Push Hardening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965192" y="1216152"/>
            <a:ext cx="3913632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</a:rPr>
              <a:t>Number matching — user must type code shown in app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</a:rPr>
              <a:t>Additional context (geo, device) in push notification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</a:rPr>
              <a:t>Rate limiting &amp; CAPTCHA on authentication endpoints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</a:rPr>
              <a:t>Short token TTL with single-use enforcement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320040" y="2880360"/>
            <a:ext cx="42062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0040" y="2880360"/>
            <a:ext cx="73152" cy="2011680"/>
          </a:xfrm>
          <a:prstGeom prst="rect">
            <a:avLst/>
          </a:prstGeom>
          <a:solidFill>
            <a:srgbClr val="6A1B9A"/>
          </a:solidFill>
          <a:ln/>
        </p:spPr>
      </p:sp>
      <p:sp>
        <p:nvSpPr>
          <p:cNvPr id="14" name="Text 12"/>
          <p:cNvSpPr/>
          <p:nvPr/>
        </p:nvSpPr>
        <p:spPr>
          <a:xfrm>
            <a:off x="484632" y="29718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6A1B9A"/>
                </a:solidFill>
              </a:rPr>
              <a:t>Network &amp; Session Security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484632" y="3319272"/>
            <a:ext cx="3913632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</a:rPr>
              <a:t>Enforce HTTPS + HSTS to prevent SSL stripping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</a:rPr>
              <a:t>Invalidate sessions on IP/device change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</a:rPr>
              <a:t>Token binding ties session to TLS connection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</a:rPr>
              <a:t>Short session lifetimes + re-authentication policies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800600" y="2880360"/>
            <a:ext cx="4206240" cy="2011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800600" y="2880360"/>
            <a:ext cx="73152" cy="2011680"/>
          </a:xfrm>
          <a:prstGeom prst="rect">
            <a:avLst/>
          </a:prstGeom>
          <a:solidFill>
            <a:srgbClr val="BF360C"/>
          </a:solidFill>
          <a:ln/>
        </p:spPr>
      </p:sp>
      <p:sp>
        <p:nvSpPr>
          <p:cNvPr id="18" name="Text 16"/>
          <p:cNvSpPr/>
          <p:nvPr/>
        </p:nvSpPr>
        <p:spPr>
          <a:xfrm>
            <a:off x="4965192" y="297180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F360C"/>
                </a:solidFill>
              </a:rPr>
              <a:t>Organizational Controls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65192" y="3319272"/>
            <a:ext cx="3913632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</a:rPr>
              <a:t>Security awareness training for social engineering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</a:rPr>
              <a:t>Zero-trust architecture — verify every access request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</a:rPr>
              <a:t>Privileged Access Workstations (PAW) for admins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A2535"/>
                </a:solidFill>
              </a:rPr>
              <a:t>Dark web monitoring for leaked credentials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0" y="4983480"/>
            <a:ext cx="9144000" cy="16002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21" name="Text 19"/>
          <p:cNvSpPr/>
          <p:nvPr/>
        </p:nvSpPr>
        <p:spPr>
          <a:xfrm>
            <a:off x="274320" y="4974336"/>
            <a:ext cx="859536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07D8B"/>
                </a:solidFill>
              </a:rPr>
              <a:t>MFA Attacks &amp; Bypass Techniques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8229600" y="4974336"/>
            <a:ext cx="7315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07D8B"/>
                </a:solidFill>
              </a:rPr>
              <a:t>10 / 11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28600" cy="5143500"/>
          </a:xfrm>
          <a:prstGeom prst="rect">
            <a:avLst/>
          </a:prstGeom>
          <a:solidFill>
            <a:srgbClr val="00C2FF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500" kern="0" dirty="0">
                <a:solidFill>
                  <a:srgbClr val="00C2FF"/>
                </a:solidFill>
              </a:rPr>
              <a:t>CONCLUSION &amp; FUTURE SCOPE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530352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We Learned &amp; What Lies Ahead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5166360" cy="2514600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170432"/>
            <a:ext cx="4892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FF"/>
                </a:solidFill>
              </a:rPr>
              <a:t>Key Takeaways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499616"/>
            <a:ext cx="4892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No MFA is unbreakable — attack surface depends on the factor type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02920" y="1773936"/>
            <a:ext cx="4892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SMS/OTP-based MFA is significantly weaker than FIDO2/Passkeys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502920" y="2048256"/>
            <a:ext cx="4892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Human factors (social engineering, fatigue) remain the biggest vector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322576"/>
            <a:ext cx="4892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AiTM &amp; session hijacking bypass MFA at the protocol level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2596896"/>
            <a:ext cx="4892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Phishing-resistant MFA (hardware keys, passkeys) is the gold standard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2871216"/>
            <a:ext cx="48920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Defense-in-depth: combine MFA with zero-trust, monitoring, training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5715000" y="1097280"/>
            <a:ext cx="3063240" cy="2514600"/>
          </a:xfrm>
          <a:prstGeom prst="rect">
            <a:avLst/>
          </a:prstGeom>
          <a:solidFill>
            <a:srgbClr val="132338"/>
          </a:solidFill>
          <a:ln/>
          <a:effectLst>
            <a:outerShdw sx="100000" sy="100000" kx="0" ky="0" algn="bl" rotWithShape="0" blurRad="101600" dist="25400" dir="8100000">
              <a:srgbClr val="000000">
                <a:alpha val="12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5833872" y="1170432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E676"/>
                </a:solidFill>
              </a:rPr>
              <a:t>Future Scope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833872" y="149961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Passkey &amp; FIDO2 mainstream adoption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5833872" y="177393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AI-driven adaptive authentication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833872" y="204825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Behavioral biometrics as continuous MFA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833872" y="232257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Post-quantum cryptography for auth tokens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833872" y="259689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Decentralized identity (DID/W3C standards)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5833872" y="2871216"/>
            <a:ext cx="2834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</a:rPr>
              <a:t>Real-time deepfake liveness detection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365760" y="3730752"/>
            <a:ext cx="8412480" cy="1188720"/>
          </a:xfrm>
          <a:prstGeom prst="rect">
            <a:avLst/>
          </a:prstGeom>
          <a:solidFill>
            <a:srgbClr val="0D1422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" y="3776472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FF"/>
                </a:solidFill>
              </a:rPr>
              <a:t>References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502920" y="4078224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D8B"/>
                </a:solidFill>
              </a:rPr>
              <a:t>[1] Microsoft Security Blog — AiTM Phishing at Scale (2022). microsoft.com/security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502920" y="429768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D8B"/>
                </a:solidFill>
              </a:rPr>
              <a:t>[2] CISA — Implementing Phishing-Resistant MFA (2022). cisa.gov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02920" y="4517136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D8B"/>
                </a:solidFill>
              </a:rPr>
              <a:t>[3] NIST SP 800-63B — Digital Identity Guidelines. nvlpubs.nist.gov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502920" y="4736592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D8B"/>
                </a:solidFill>
              </a:rPr>
              <a:t>[4] Mandiant / Google — MFA Bypass Techniques in the Wild (2023). mandiant.com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502920" y="495604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07D8B"/>
                </a:solidFill>
              </a:rPr>
              <a:t>[5] Evilginx2 Documentation — kgretzky.com/evilginx   [6] Uber Incident Report (2022). uber.com/newsroom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457200" y="4956048"/>
            <a:ext cx="8412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07D8B"/>
                </a:solidFill>
              </a:rPr>
              <a:t>Jay Prajapati  ·  Vansh Vyas  ·  Harshilkumar Patel  ·  Harnish Patel  ·  Kevin Meghani  |  GTU — 2025–26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Multi-Factor Authentication (MFA) Attacks &amp; Bypass Techniques</dc:title>
  <dc:subject>PptxGenJS Presentation</dc:subject>
  <dc:creator>PptxGenJS</dc:creator>
  <cp:lastModifiedBy>PptxGenJS</cp:lastModifiedBy>
  <cp:revision>1</cp:revision>
  <dcterms:created xsi:type="dcterms:W3CDTF">2026-03-24T14:41:55Z</dcterms:created>
  <dcterms:modified xsi:type="dcterms:W3CDTF">2026-03-24T14:41:55Z</dcterms:modified>
</cp:coreProperties>
</file>